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5F61"/>
                </a:solidFill>
                <a:latin typeface="Aptos Display"/>
              </a:defRPr>
            </a:pPr>
            <a:r>
              <a:t>LUMIÈRE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746C"/>
                </a:solidFill>
                <a:latin typeface="Aptos"/>
              </a:defRPr>
            </a:pPr>
            <a:r>
              <a:t>COSMETIC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6583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02A26"/>
                </a:solidFill>
                <a:latin typeface="Aptos Display"/>
              </a:defRPr>
            </a:pPr>
            <a:r>
              <a:t>WEBSITE QUẢN LÝ</a:t>
            </a:r>
            <a:br/>
            <a:r>
              <a:t>MỸ PHẨM 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7E746C"/>
                </a:solidFill>
                <a:latin typeface="Aptos"/>
              </a:defRPr>
            </a:pPr>
            <a:r>
              <a:t>Đồ án cuối kỳ · Học phần Điện toán đám mây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E746C"/>
                </a:solidFill>
                <a:latin typeface="Aptos"/>
              </a:defRPr>
            </a:pPr>
            <a:r>
              <a:t>Sinh viên: [Tên nhóm]  |  Giảng viên: [Tên giảng viên]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Bài toán và lý do chọn đề tài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Dữ liệu sản phẩm, khách hàng và đơn hàng thường nằm ở nhiều nơi.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Khó theo dõi tồn kho theo lô và hạn sử dụng.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Ảnh sản phẩm/chứng từ cần lưu trữ tách khỏi database.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Mục tiêu: một ứng dụng web chạy được bằng Docker 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Mục tiêu và phạm vi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CRUD sản phẩm, danh mục, nhãn hàng, nhà cung cấp, khách hàng.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Nhập lô, theo dõi hạn sử dụng, bán hàng và in hóa đơn.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Upload/download file qua MinIO.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Báo cáo doanh thu, tồn kho thấp và sản phẩm bán chạy.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Kiến trúc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Browser → Node.js / Express / EJS.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Backend → PostgreSQL để lưu nghiệp vụ và metadata.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Backend → MinIO để lưu nội dung file.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Docker Compose kết nối ba service bằng network riêng.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Công nghệ sử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Node.js 22 + Express REST API.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EJS, CSS, JavaScript và Bootstrap Icons.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PostgreSQL 16, foreign keys, constraints và indexes.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MinIO Object Storage, Dockerfile và Docker 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Mô hình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13 bảng nghiệp vụ, người dùng, kho, metadata và audit.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Product liên kết Category, Brand, Supplier.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Order có nhiều Order Item; lô hàng lưu số lượng còn lại.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File metadata trỏ đến object key trong bucket MinIO.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Chức năng giao diện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Dashboard với KPI và cảnh báo.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Danh sách có tìm kiếm, CRUD và trang chi tiết.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Form nhập lô, tạo đơn và in hóa đơn.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Kho tệp có xem/tải xuống và thông báo kết quả.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REST API và phân quyền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REST API cho sản phẩm, danh mục, nhãn hàng, nhà cung cấp, khách hàng.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Swagger UI / OpenAPI và Postman Collection.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Administrator quản trị dữ liệu và tài khoản.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Staff thao tác nghiệp vụ theo quyền; mật khẩu bcrypt hash.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Upload file qua MinIO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Browser gửi multipart/form-data đến backend.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Backend kiểm tra dung lượng, phần mở rộng và MIME type.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MinIO lưu nội dung file; PostgreSQL chỉ lưu metadata.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File được xem/tải qua route yêu cầu đăng nhập.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Docker Compose và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Service: application, database, minio.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Named volumes: database-data và minio-data.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Network: cosmetic-network, dùng DNS service.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Kiểm chứng bằng down rồi up -d, không dùng down -v.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Kiểm thử và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CRUD ít nhất 3 thực thể và tìm kiếm.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Tạo đơn, kiểm tra tồn kho và xử lý bán vượt tồn.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Upload/download file; xem object trong MinIO Console.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Gọi API qua Swagger/Postman; kiểm tra dữ liệu sau restart.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Liên hệ lý thuyết điện toán đám mây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Docker network cô lập giao tiếp container, có điểm tương đồng mục tiêu với VPC/subnet.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Named volume tách dữ liệu khỏi vòng đời container.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Object Storage phù hợp lưu nội dung file không cấu trúc.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Compose giúp tái tạo môi trường demo nhất quán.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A65F61"/>
                </a:solidFill>
                <a:latin typeface="Aptos Display"/>
              </a:defRPr>
            </a:pPr>
            <a:r>
              <a:t>Hạn chế và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99032"/>
            <a:ext cx="685800" cy="41148"/>
          </a:xfrm>
          <a:prstGeom prst="rect">
            <a:avLst/>
          </a:prstGeom>
          <a:solidFill>
            <a:srgbClr val="A65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Bổ sung CSRF, rate limiting, session store bền vững và backup.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Hoàn thiện hủy/hoàn đơn, khuyến mãi và báo cáo lợi nhuận.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Tạo MinIO policy least-privilege cho triển khai thật.</a:t>
            </a:r>
          </a:p>
          <a:p>
            <a:pPr>
              <a:spcAft>
                <a:spcPts val="1600"/>
              </a:spcAft>
              <a:defRPr sz="1800">
                <a:solidFill>
                  <a:srgbClr val="302A26"/>
                </a:solidFill>
                <a:latin typeface="Aptos"/>
              </a:defRPr>
            </a:pPr>
            <a:r>
              <a:t>Bổ sung ảnh chụp, kết quả test và phân công nhóm trước khi nộp.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E746C"/>
                </a:solidFill>
                <a:latin typeface="Aptos"/>
              </a:defRPr>
            </a:pPr>
            <a:r>
              <a:t>LUMIÈRE COSMETIC  ·  ĐỒ ÁN ĐIỆN TOÁN ĐÁM MÂY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A65F61"/>
                </a:solidFill>
                <a:latin typeface="Aptos Display"/>
              </a:defRPr>
            </a:pPr>
            <a:r>
              <a:t>CẢM 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02A26"/>
                </a:solidFill>
                <a:latin typeface="Aptos"/>
              </a:defRPr>
            </a:pPr>
            <a:r>
              <a:t>Câu hỏi &amp; thảo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E746C"/>
                </a:solidFill>
                <a:latin typeface="Aptos"/>
              </a:defRPr>
            </a:pPr>
            <a:r>
              <a:t>[Tên thành viên] · [Lớp]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